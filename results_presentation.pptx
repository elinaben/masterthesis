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6.jpg" /><Relationship Id="rId2" Type="http://schemas.openxmlformats.org/officeDocument/2006/relationships/image" Target="../media/image5.jp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jp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jp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jp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jp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jp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jp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jp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Tau Expression in Response to ProNGF Treatment in BFCNs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2026-03-04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Background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Published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ProNGF — the precursor form of Nerve Growth Factor — was recently shown to drive </a:t>
            </a:r>
            <a:r>
              <a:rPr b="1"/>
              <a:t>retrograde axonal degeneration</a:t>
            </a:r>
            <a:r>
              <a:rPr/>
              <a:t> of basal forebrain cholinergic neurons (BFCNs) through the p75</a:t>
            </a:r>
            <a:r>
              <a:rPr baseline="30000"/>
              <a:t>NTR</a:t>
            </a:r>
            <a:r>
              <a:rPr/>
              <a:t> receptor and induction of amyloid precursor protein (APP).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s/SciSignaling_hea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49500"/>
            <a:ext cx="4038600" cy="109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figs/SciSignaling_cove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321300" y="1193800"/>
            <a:ext cx="2679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Mechanism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ProNGF acts selectively on axons, triggering a cascade that leads to both </a:t>
            </a:r>
            <a:r>
              <a:rPr b="1"/>
              <a:t>axon degeneration</a:t>
            </a:r>
            <a:r>
              <a:rPr/>
              <a:t> and </a:t>
            </a:r>
            <a:r>
              <a:rPr b="1"/>
              <a:t>cell death</a:t>
            </a:r>
            <a:r>
              <a:rPr/>
              <a:t>:</a:t>
            </a:r>
          </a:p>
          <a:p>
            <a:pPr lvl="0"/>
            <a:r>
              <a:rPr/>
              <a:t>Axon-specific proNGF → p75</a:t>
            </a:r>
            <a:r>
              <a:rPr baseline="30000"/>
              <a:t>NTR</a:t>
            </a:r>
            <a:r>
              <a:rPr/>
              <a:t> activation</a:t>
            </a:r>
          </a:p>
          <a:p>
            <a:pPr lvl="0"/>
            <a:r>
              <a:rPr/>
              <a:t>↑ Nascent protein synthesis in axons, including </a:t>
            </a:r>
            <a:r>
              <a:rPr b="1"/>
              <a:t>APP</a:t>
            </a:r>
          </a:p>
          <a:p>
            <a:pPr lvl="0"/>
            <a:r>
              <a:rPr/>
              <a:t>APP↑ → Ca²⁺ increase → Calpain activation</a:t>
            </a:r>
          </a:p>
          <a:p>
            <a:pPr lvl="0"/>
            <a:r>
              <a:rPr/>
              <a:t>Concurrent retrograde p-JNK/JNK signalling → cell death</a:t>
            </a:r>
          </a:p>
        </p:txBody>
      </p:sp>
      <p:pic>
        <p:nvPicPr>
          <p:cNvPr descr="figs/SciSignaling_mechanis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29100" y="203200"/>
            <a:ext cx="3797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Prior Lab Data — Ingenuity Pathway Analysis (IPA)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identify which upstream regulators are activated by axonal proNGF treatment, BFCNs were cultured in </a:t>
            </a:r>
            <a:r>
              <a:rPr b="1"/>
              <a:t>filter chambers</a:t>
            </a:r>
            <a:r>
              <a:rPr/>
              <a:t> that physically separate axons from cell bodies.</a:t>
            </a:r>
          </a:p>
          <a:p>
            <a:pPr lvl="0"/>
            <a:r>
              <a:rPr/>
              <a:t>Axons were treated with proNGF for </a:t>
            </a:r>
            <a:r>
              <a:rPr b="1"/>
              <a:t>30 minutes</a:t>
            </a:r>
          </a:p>
          <a:p>
            <a:pPr lvl="0"/>
            <a:r>
              <a:rPr/>
              <a:t>Newly synthesised proteins were labelled with </a:t>
            </a:r>
            <a:r>
              <a:rPr b="1"/>
              <a:t>O-propargyl-puromycin (OPP)</a:t>
            </a:r>
          </a:p>
          <a:p>
            <a:pPr lvl="0"/>
            <a:r>
              <a:rPr/>
              <a:t>After a </a:t>
            </a:r>
            <a:r>
              <a:rPr b="1"/>
              <a:t>2-hour labelling window</a:t>
            </a:r>
            <a:r>
              <a:rPr/>
              <a:t>, axonal lysates were collected and analysed</a:t>
            </a:r>
          </a:p>
          <a:p>
            <a:pPr lvl="0" indent="0" marL="0">
              <a:buNone/>
            </a:pPr>
            <a:r>
              <a:rPr/>
              <a:t>IPA of the axonal proteome revealed </a:t>
            </a:r>
            <a:r>
              <a:rPr b="1"/>
              <a:t>MAPT (tau)</a:t>
            </a:r>
            <a:r>
              <a:rPr/>
              <a:t> and </a:t>
            </a:r>
            <a:r>
              <a:rPr b="1"/>
              <a:t>APP</a:t>
            </a:r>
            <a:r>
              <a:rPr/>
              <a:t> as the top upstream regulators (</a:t>
            </a:r>
            <a:r>
              <a:rPr i="1"/>
              <a:t>p</a:t>
            </a:r>
            <a:r>
              <a:rPr/>
              <a:t> = 4.35×10⁻⁷⁰ and 4.83×10⁻³⁶, respectively), with predicted downstream effects on cell death and necrosis.</a:t>
            </a:r>
          </a:p>
        </p:txBody>
      </p:sp>
      <p:pic>
        <p:nvPicPr>
          <p:cNvPr descr="figs/SciSignaling_IP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28700"/>
            <a:ext cx="5105400" cy="271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Tau Isoforms &amp; Protein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Six CNS isoforms</a:t>
            </a:r>
            <a:r>
              <a:rPr/>
              <a:t> arise from alternative splicing of exons 2, 3, and 10 of the </a:t>
            </a:r>
            <a:r>
              <a:rPr i="1"/>
              <a:t>MAPT</a:t>
            </a:r>
            <a:r>
              <a:rPr/>
              <a:t> gene, generating 3R and 4R repeat variants that differ in microtubule-binding affinity. The protein contains an </a:t>
            </a:r>
            <a:r>
              <a:rPr b="1"/>
              <a:t>N-terminal projection domain</a:t>
            </a:r>
            <a:r>
              <a:rPr/>
              <a:t>, a </a:t>
            </a:r>
            <a:r>
              <a:rPr b="1"/>
              <a:t>proline-rich region</a:t>
            </a:r>
            <a:r>
              <a:rPr/>
              <a:t>, the </a:t>
            </a:r>
            <a:r>
              <a:rPr b="1"/>
              <a:t>microtubule-binding repeat domain (MTBD)</a:t>
            </a:r>
            <a:r>
              <a:rPr/>
              <a:t>, and a short C-terminal tail. Phosphorylation sites in this study (pThr181, AT8, pSer622) all lie outside the MTBD.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s/Isoforms_of_Tau_alz_journa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82700"/>
            <a:ext cx="40386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Tau isoforms (Alz journal).</a:t>
            </a:r>
          </a:p>
        </p:txBody>
      </p:sp>
      <p:pic>
        <p:nvPicPr>
          <p:cNvPr descr="figs/Tau_Structure_scidirect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82700"/>
            <a:ext cx="40386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Tau protein structure (ScienceDirect).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Tau: Beyond its Canonical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Microtubule stabilization and cytoskeletal coordination:</a:t>
            </a:r>
            <a:r>
              <a:rPr/>
              <a:t> Binds axonal microtubules to maintain cytoskeletal integrity and neuronal polarity. Integrates microtubule and actin networks to support axonal structure and dynamics.</a:t>
            </a:r>
          </a:p>
          <a:p>
            <a:pPr lvl="0"/>
            <a:r>
              <a:rPr b="1"/>
              <a:t>Regulation of axonal transport:</a:t>
            </a:r>
            <a:r>
              <a:rPr/>
              <a:t> Controls kinesin- and dynein-based trafficking of vesicles, organelles, and signaling complexes.</a:t>
            </a:r>
          </a:p>
          <a:p>
            <a:pPr lvl="0"/>
            <a:r>
              <a:rPr b="1"/>
              <a:t>Signaling scaffold:</a:t>
            </a:r>
            <a:r>
              <a:rPr/>
              <a:t> Organizes kinase and stress-response pathways linking extracellular signals to intracellular responses.</a:t>
            </a:r>
          </a:p>
          <a:p>
            <a:pPr lvl="0"/>
            <a:r>
              <a:rPr b="1"/>
              <a:t>Synaptic function and plasticity:</a:t>
            </a:r>
            <a:r>
              <a:rPr/>
              <a:t> Participates in synaptic signaling, receptor regulation, and activity-dependent local translation of Tau.</a:t>
            </a:r>
          </a:p>
          <a:p>
            <a:pPr lvl="0"/>
            <a:r>
              <a:rPr b="1"/>
              <a:t>Proteostasis and clearance:</a:t>
            </a:r>
            <a:r>
              <a:rPr/>
              <a:t> Interacts with chaperones, proteasome, and autophagy machinery to regulate Tau turnover.</a:t>
            </a:r>
          </a:p>
          <a:p>
            <a:pPr lvl="0"/>
            <a:r>
              <a:rPr b="1"/>
              <a:t>Nuclear and stress-related roles:</a:t>
            </a:r>
            <a:r>
              <a:rPr/>
              <a:t> Can localize to the nucleus, where it may contribute to DNA protection and stress responses.</a:t>
            </a:r>
          </a:p>
        </p:txBody>
      </p:sp>
      <p:pic>
        <p:nvPicPr>
          <p:cNvPr descr="figs/Roles_of_Tau_alz_journa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27700" y="1193800"/>
            <a:ext cx="1879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Sinsky, J., Pichlerova, K., &amp; Hanes, J. (2021).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Rationale for This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IPA data pointed to </a:t>
            </a:r>
            <a:r>
              <a:rPr b="1"/>
              <a:t>tau (MAPT)</a:t>
            </a:r>
            <a:r>
              <a:rPr/>
              <a:t> as a central upstream regulator of the axonal response to proNGF — yet the specific changes in tau protein expression and phosphorylation state had not been characterised.</a:t>
            </a:r>
          </a:p>
          <a:p>
            <a:pPr lvl="0" indent="0" marL="0">
              <a:buNone/>
            </a:pPr>
            <a:r>
              <a:rPr b="1"/>
              <a:t>This study asks:</a:t>
            </a:r>
          </a:p>
          <a:p>
            <a:pPr lvl="0" indent="0" marL="1270000">
              <a:buNone/>
            </a:pPr>
            <a:r>
              <a:rPr sz="2000"/>
              <a:t>Does proNGF treatment alter </a:t>
            </a:r>
            <a:r>
              <a:rPr sz="2000" b="1"/>
              <a:t>total tau</a:t>
            </a:r>
            <a:r>
              <a:rPr sz="2000"/>
              <a:t> and </a:t>
            </a:r>
            <a:r>
              <a:rPr sz="2000" b="1"/>
              <a:t>phospho-tau</a:t>
            </a:r>
            <a:r>
              <a:rPr sz="2000"/>
              <a:t> levels in the axon and soma compartments of BFCNs?</a:t>
            </a:r>
          </a:p>
          <a:p>
            <a:pPr lvl="0" indent="0" marL="0">
              <a:buNone/>
            </a:pPr>
            <a:r>
              <a:rPr/>
              <a:t>We used Western blotting with antibodies targeting three phosphorylation sites — </a:t>
            </a:r>
            <a:r>
              <a:rPr b="1"/>
              <a:t>pThr181</a:t>
            </a:r>
            <a:r>
              <a:rPr/>
              <a:t>, </a:t>
            </a:r>
            <a:r>
              <a:rPr b="1"/>
              <a:t>pSer202/pThr205 (AT8)</a:t>
            </a:r>
            <a:r>
              <a:rPr/>
              <a:t>, and </a:t>
            </a:r>
            <a:r>
              <a:rPr b="1"/>
              <a:t>pSer622</a:t>
            </a:r>
            <a:r>
              <a:rPr/>
              <a:t> — alongside pan-tau, to capture both the abundance and phosphorylation state of tau across compartments.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Tau Increase in Response to ProNGF Treatment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ProNGF treatment was applied to compartmentalized basal forebrain cholinergic neuron cultures.</a:t>
            </a:r>
          </a:p>
          <a:p>
            <a:pPr lvl="0" indent="0" marL="0">
              <a:buNone/>
            </a:pPr>
            <a:r>
              <a:rPr/>
              <a:t>Western blotting was used to assess changes in </a:t>
            </a:r>
            <a:r>
              <a:rPr b="1"/>
              <a:t>total Tau</a:t>
            </a:r>
            <a:r>
              <a:rPr/>
              <a:t> and </a:t>
            </a:r>
            <a:r>
              <a:rPr b="1"/>
              <a:t>phospho-Tau</a:t>
            </a:r>
            <a:r>
              <a:rPr/>
              <a:t> protein levels across soma and axon compartments.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Tau Phosphorylation Sites for Antibodies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research, I quantified tau phosphorylation using three antibodies that report distinct tau states:</a:t>
            </a:r>
          </a:p>
          <a:p>
            <a:pPr lvl="0"/>
            <a:r>
              <a:rPr b="1"/>
              <a:t>pThr181 (p-tau181)</a:t>
            </a:r>
            <a:r>
              <a:rPr/>
              <a:t>: commonly used biomarker-associated phosphorylation site that tracks Alzheimer’s disease-related tau pathology in CSF and plasma and is widely used for staging/stratification. Key kinases: GSK-3β, CDK5.</a:t>
            </a:r>
          </a:p>
          <a:p>
            <a:pPr lvl="0"/>
            <a:r>
              <a:rPr b="1"/>
              <a:t>AT8 (pSer202/pThr205)</a:t>
            </a:r>
            <a:r>
              <a:rPr/>
              <a:t>: canonical neuropathology epitope used to detect early and established pathological tau (pre-tangles/tangles) in tissue; often treated as a marker of disease-associated tau phosphorylation. Key kinases: GSK-3β, MAPK, CDK5.</a:t>
            </a:r>
          </a:p>
          <a:p>
            <a:pPr lvl="0"/>
            <a:r>
              <a:rPr b="1"/>
              <a:t>pSer622</a:t>
            </a:r>
            <a:r>
              <a:rPr/>
              <a:t>: a C-terminal tau site assessed in biochemical studies; interpretation depends on antibody specificity and isoform context, and is typically considered alongside broader phosphorylation patterns. Key kinases: Casein kinase 1 and 2, GSK-3β.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Phosphorylation Patterns of Tau</a:t>
            </a:r>
          </a:p>
        </p:txBody>
      </p:sp>
      <p:pic>
        <p:nvPicPr>
          <p:cNvPr descr="figs/external_pTau_FEB4-14-181-g005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3100" y="1193800"/>
            <a:ext cx="5257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figure shows the phosphorylation sites of tau identified in each disease and the frequency (Horie et al. and Kametani et al.).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Composite Western Blot — All Compartments</a:t>
            </a:r>
          </a:p>
        </p:txBody>
      </p:sp>
      <p:pic>
        <p:nvPicPr>
          <p:cNvPr descr="figs/ColoredLabeledWB_Feb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8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Western blot analysis of Tau and actin expression. Composite image.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Representative Composite Image</a:t>
            </a:r>
          </a:p>
        </p:txBody>
      </p:sp>
      <p:pic>
        <p:nvPicPr>
          <p:cNvPr descr="figs/ELINA_2026-02-12_12h52m48s_Composite_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Representative composite image showing actin (blue) and Tau (green).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Green Channel — Actin &amp; Phospho-Tau (800CW)</a:t>
            </a:r>
          </a:p>
        </p:txBody>
      </p:sp>
      <p:pic>
        <p:nvPicPr>
          <p:cNvPr descr="figs/ELINA_2026-02-05_12h18m48s_IRDye_800CW_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Green channel image showing actin (mouse) and phospho-Tau (rabbit; pSer202/pThr205).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 Channel — Total Tau (pan-Tau; Rb-237)</a:t>
            </a:r>
          </a:p>
        </p:txBody>
      </p:sp>
      <p:pic>
        <p:nvPicPr>
          <p:cNvPr descr="figs/ELINA_2026-02-06_13h04m41s_IRDye_680RD_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Red channel image showing total Tau (pan-Tau; Rb-237).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Soma-Only Repeat Western Blot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repeat Western blot was performed on </a:t>
            </a:r>
            <a:r>
              <a:rPr b="1"/>
              <a:t>soma-only</a:t>
            </a:r>
            <a:r>
              <a:rPr/>
              <a:t> fractions from the same samples as above.</a:t>
            </a:r>
          </a:p>
          <a:p>
            <a:pPr lvl="0" indent="0" marL="0">
              <a:buNone/>
            </a:pPr>
            <a:r>
              <a:rPr/>
              <a:t>Targets: </a:t>
            </a:r>
            <a:r>
              <a:rPr b="1"/>
              <a:t>phospho-Tau (pSer622)</a:t>
            </a:r>
            <a:r>
              <a:rPr/>
              <a:t>, </a:t>
            </a:r>
            <a:r>
              <a:rPr b="1"/>
              <a:t>pan-Tau</a:t>
            </a:r>
            <a:r>
              <a:rPr/>
              <a:t>, and </a:t>
            </a:r>
            <a:r>
              <a:rPr b="1"/>
              <a:t>actin</a:t>
            </a:r>
            <a:r>
              <a:rPr/>
              <a:t>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Soma-Only Composite Western Blot</a:t>
            </a:r>
          </a:p>
        </p:txBody>
      </p:sp>
      <p:pic>
        <p:nvPicPr>
          <p:cNvPr descr="figs/ColoredLabeledWB_onlySom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193800"/>
            <a:ext cx="367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Western blot analysis of phosphoTau, panTau and actin expression. Composite image.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 Channel — Phospho-Tau at Ser622 (680RD)</a:t>
            </a:r>
          </a:p>
        </p:txBody>
      </p:sp>
      <p:pic>
        <p:nvPicPr>
          <p:cNvPr descr="figs/ELINA_2026-02-11_13h52m00s_IRDye_680RD_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Red channel image showing phospho-Tau at Ser622 (pSer622).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Composite — pSer622 &amp; Pan-Tau</a:t>
            </a:r>
          </a:p>
        </p:txBody>
      </p:sp>
      <p:pic>
        <p:nvPicPr>
          <p:cNvPr descr="figs/ELINA_2026-02-13_10h47m12s_Composite_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Composite image: phospho-Tau at Ser622 (red channel) and pan-Tau (green channel; Red antibody = Rabbit, Green antibody = Mouse).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IPA of axonal lysates after proNGF treatment identified </a:t>
            </a:r>
            <a:r>
              <a:rPr b="1"/>
              <a:t>MAPT (tau)</a:t>
            </a:r>
            <a:r>
              <a:rPr/>
              <a:t> and </a:t>
            </a:r>
            <a:r>
              <a:rPr b="1"/>
              <a:t>APP</a:t>
            </a:r>
            <a:r>
              <a:rPr/>
              <a:t> as the top upstream regulators, motivating a direct biochemical assessment of tau</a:t>
            </a:r>
          </a:p>
          <a:p>
            <a:pPr lvl="0"/>
            <a:r>
              <a:rPr/>
              <a:t>ProNGF treatment induces changes in </a:t>
            </a:r>
            <a:r>
              <a:rPr b="1"/>
              <a:t>total Tau</a:t>
            </a:r>
            <a:r>
              <a:rPr/>
              <a:t> levels detectable by Western blot</a:t>
            </a:r>
          </a:p>
          <a:p>
            <a:pPr lvl="0"/>
            <a:r>
              <a:rPr/>
              <a:t>Phosphorylation at </a:t>
            </a:r>
            <a:r>
              <a:rPr b="1"/>
              <a:t>pSer202/pThr205</a:t>
            </a:r>
            <a:r>
              <a:rPr/>
              <a:t> and </a:t>
            </a:r>
            <a:r>
              <a:rPr b="1"/>
              <a:t>pSer622</a:t>
            </a:r>
            <a:r>
              <a:rPr/>
              <a:t> sites assessed across compartments</a:t>
            </a:r>
          </a:p>
          <a:p>
            <a:pPr lvl="0"/>
            <a:r>
              <a:rPr/>
              <a:t>Soma-only repeat blots confirm signal specificity in the </a:t>
            </a:r>
            <a:r>
              <a:rPr b="1"/>
              <a:t>cell body fraction</a:t>
            </a:r>
          </a:p>
          <a:p>
            <a:pPr lvl="0" indent="0" marL="0">
              <a:buNone/>
            </a:pPr>
            <a:r>
              <a:rPr b="1"/>
              <a:t>Next steps:</a:t>
            </a:r>
            <a:r>
              <a:rPr/>
              <a:t> Quantification of band intensities and normalization to actin loading control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Tau Expression in Response to ProNGF Treatment in BFCNs</dc:title>
  <dc:creator/>
  <cp:keywords/>
  <dcterms:created xsi:type="dcterms:W3CDTF">2026-03-04T20:01:14Z</dcterms:created>
  <dcterms:modified xsi:type="dcterms:W3CDTF">2026-03-04T20:01:14Z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date">
    <vt:lpwstr>2026-03-04</vt:lpwstr>
  </property>
  <property fmtid="{D5CDD505-2E9C-101B-9397-08002B2CF9AE}" pid="4" name="execute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